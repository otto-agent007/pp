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82a09386dc74ee1" /><Relationship Type="http://schemas.openxmlformats.org/officeDocument/2006/relationships/extended-properties" Target="/docProps/app.xml" Id="Red05195bd2d34a9b" /><Relationship Type="http://schemas.openxmlformats.org/officeDocument/2006/relationships/officeDocument" Target="/ppt/presentation.xml" Id="R53dded384f66497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c952e2716024d20"/>
  </p:sldMasterIdLst>
  <p:notesMasterIdLst>
    <p:notesMasterId xmlns:r="http://schemas.openxmlformats.org/officeDocument/2006/relationships" r:id="Rc7c7caa4606f40d5"/>
  </p:notesMasterIdLst>
  <p:sldIdLst>
    <p:sldId xmlns:r="http://schemas.openxmlformats.org/officeDocument/2006/relationships" id="256" r:id="Rea479f99e09f407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952e2716024d20" /><Relationship Type="http://schemas.openxmlformats.org/officeDocument/2006/relationships/theme" Target="/ppt/theme/theme1.xml" Id="R32c2ec63ff2a43e5" /><Relationship Type="http://schemas.openxmlformats.org/officeDocument/2006/relationships/notesMaster" Target="/ppt/notesMasters/notesMaster1.xml" Id="Rc7c7caa4606f40d5" /><Relationship Type="http://schemas.openxmlformats.org/officeDocument/2006/relationships/presProps" Target="/ppt/presProps.xml" Id="Ra99d9dc4474e47f8" /><Relationship Type="http://schemas.openxmlformats.org/officeDocument/2006/relationships/viewProps" Target="/ppt/viewProps.xml" Id="R0d431986c4ec4dbf" /><Relationship Type="http://schemas.openxmlformats.org/officeDocument/2006/relationships/tableStyles" Target="/ppt/tableStyles.xml" Id="R07cb9f29ac464de4" /><Relationship Type="http://schemas.openxmlformats.org/officeDocument/2006/relationships/slide" Target="/ppt/slides/slide1.xml" Id="Rea479f99e09f407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10b12253bdb43a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8e422c9f2e24ebb" /><Relationship Type="http://schemas.openxmlformats.org/officeDocument/2006/relationships/notesMaster" Target="/ppt/notesMasters/notesMaster1.xml" Id="R1187a8f97d0740e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83621ce83148d9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969103d1dd9546d7" /><Relationship Type="http://schemas.openxmlformats.org/officeDocument/2006/relationships/slideLayout" Target="/ppt/slideLayouts/slideLayout2.xml" Id="R73514f426c7b4e7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514f426c7b4e7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77d91e4ae4d4fa8" /><Relationship Type="http://schemas.openxmlformats.org/officeDocument/2006/relationships/image" Target="/ppt/media/image.png" Id="Rf7879676fad04a6b" /><Relationship Type="http://schemas.openxmlformats.org/officeDocument/2006/relationships/image" Target="/ppt/media/image.svg" Id="R260ff06466e14381" /><Relationship Type="http://schemas.openxmlformats.org/officeDocument/2006/relationships/image" Target="/ppt/media/image2.png" Id="Rac39f07bd40e45f1" /><Relationship Type="http://schemas.openxmlformats.org/officeDocument/2006/relationships/image" Target="/ppt/media/image2.svg" Id="R9f1ae2e187044332" /><Relationship Type="http://schemas.openxmlformats.org/officeDocument/2006/relationships/image" Target="/ppt/media/image3.png" Id="R2e3c5d8e75e34b23" /><Relationship Type="http://schemas.openxmlformats.org/officeDocument/2006/relationships/image" Target="/ppt/media/image3.svg" Id="R2603b7a92a4a4140" /><Relationship Type="http://schemas.openxmlformats.org/officeDocument/2006/relationships/image" Target="/ppt/media/image4.png" Id="R2de6b86f7664495e" /><Relationship Type="http://schemas.openxmlformats.org/officeDocument/2006/relationships/image" Target="/ppt/media/image4.svg" Id="Re8ecbb9fbdd84e27" /><Relationship Type="http://schemas.openxmlformats.org/officeDocument/2006/relationships/image" Target="/ppt/media/image5.png" Id="R2f00fe4ea8f14b1e" /><Relationship Type="http://schemas.openxmlformats.org/officeDocument/2006/relationships/image" Target="/ppt/media/image5.svg" Id="R71ef971e892f412c" /><Relationship Type="http://schemas.openxmlformats.org/officeDocument/2006/relationships/notesSlide" Target="/ppt/notesSlides/notesSlide1.xml" Id="Ra4b30fb91c124b1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31DF7E-98C1-4FCB-A943-993F8FD93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9C5301-41A0-4481-982F-5256D277F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3810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A5E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A5E9"/>
                </a:solidFill>
                <a:latin typeface="Aptos"/>
                <a:ea typeface="Aptos"/>
                <a:cs typeface="Aptos"/>
              </a:rPr>
              <a:t>BRAND FONT DIRECTION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2FD5E6-B5CD-4475-A742-06FCA2D80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685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71A3D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071A3D"/>
                </a:solidFill>
                <a:latin typeface="Aptos Display"/>
                <a:ea typeface="Aptos Display"/>
                <a:cs typeface="Aptos Display"/>
              </a:rPr>
              <a:t>Pest Patrol wordmark paths and review options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AC056C-C2D7-4601-9FB6-88C65F79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695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The approved Inter lockups are now self-contained SVG paths. Option A is the safe baseline; B and C are non-active mocks for the brand-font decision.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3D5065-424B-4A93-8AC3-DD63099C1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14350"/>
            <a:ext cx="285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Generated from outlined SVG paths. No live wordmark text or font dependency remains in the active lockups.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3AEA4E-60D6-467D-9018-5B0BAD4EF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33550"/>
            <a:ext cx="5381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7B814C-01CB-4C09-8040-B870C86D6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A3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71A3D"/>
                </a:solidFill>
                <a:latin typeface="Aptos"/>
                <a:ea typeface="Aptos"/>
                <a:cs typeface="Aptos"/>
              </a:rPr>
              <a:t>Active light-surface wordmark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CEF83C-EA90-4179-AF05-0AE2FBF41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5000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879676fad04a6b">
            <a:extLst>
              <a:ext uri="{96DAC541-7B7A-43D3-8B79-37D633B846F1}">
                <asvg:svgBlip xmlns:asvg="http://schemas.microsoft.com/office/drawing/2016/SVG/main" r:embed="R260ff06466e1438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57250" y="2266950"/>
            <a:ext cx="4667250" cy="6858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2840E0-C191-49E4-A341-00D3EDA79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1733550"/>
            <a:ext cx="5381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1E242C-B4BB-46B9-826E-87BF19071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19240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A3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71A3D"/>
                </a:solidFill>
                <a:latin typeface="Aptos"/>
                <a:ea typeface="Aptos"/>
                <a:cs typeface="Aptos"/>
              </a:rPr>
              <a:t>Active dark-surface wordmark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380BD7-C15B-43DF-88C7-BBCB25DD1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266950"/>
            <a:ext cx="5000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D"/>
          </a:solidFill>
          <a:ln xmlns:a="http://schemas.openxmlformats.org/drawingml/2006/main" w="9525">
            <a:solidFill>
              <a:srgbClr val="071A3D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39f07bd40e45f1">
            <a:extLst>
              <a:ext uri="{96DAC541-7B7A-43D3-8B79-37D633B846F1}">
                <asvg:svgBlip xmlns:asvg="http://schemas.microsoft.com/office/drawing/2016/SVG/main" r:embed="R9f1ae2e18704433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677025" y="2266950"/>
            <a:ext cx="4667250" cy="6858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59F1EA-8767-4963-8301-F7B680DBA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0"/>
            <a:ext cx="35433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858A62-4ADF-49B3-A6A8-6CB223DF7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81400"/>
            <a:ext cx="320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A3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71A3D"/>
                </a:solidFill>
                <a:latin typeface="Aptos"/>
                <a:ea typeface="Aptos"/>
                <a:cs typeface="Aptos"/>
              </a:rPr>
              <a:t>A / Current Inter lockup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AA0E8C-C93A-4095-A8ED-D324FF630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24300"/>
            <a:ext cx="32004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3c5d8e75e34b23">
            <a:extLst>
              <a:ext uri="{96DAC541-7B7A-43D3-8B79-37D633B846F1}">
                <asvg:svgBlip xmlns:asvg="http://schemas.microsoft.com/office/drawing/2016/SVG/main" r:embed="R2603b7a92a4a414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3981450"/>
            <a:ext cx="3009900" cy="6858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8A3B20-4F2A-4D02-B743-5A158AF4B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19650"/>
            <a:ext cx="3200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Keeps the approved Inter Black Italic direction. Lowest-risk default.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39143C-70D8-4498-93AE-F93C9D30C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429000"/>
            <a:ext cx="35433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508DEB-578B-4513-94C7-36044D32E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581400"/>
            <a:ext cx="320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A3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71A3D"/>
                </a:solidFill>
                <a:latin typeface="Aptos"/>
                <a:ea typeface="Aptos"/>
                <a:cs typeface="Aptos"/>
              </a:rPr>
              <a:t>B / Inter Display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42DB8D-8643-4784-BE6D-2455823A1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924300"/>
            <a:ext cx="32004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e6b86f7664495e">
            <a:extLst>
              <a:ext uri="{96DAC541-7B7A-43D3-8B79-37D633B846F1}">
                <asvg:svgBlip xmlns:asvg="http://schemas.microsoft.com/office/drawing/2016/SVG/main" r:embed="Re8ecbb9fbdd84e2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91050" y="3981450"/>
            <a:ext cx="3009900" cy="68580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8C45FB-988C-4DE3-BE67-456EF2A10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819650"/>
            <a:ext cx="3200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Same family, a touch more logo-like and compact. Good candidate if the mark should feel more branded without a personality jump.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463377-BA98-41CE-A09B-FEB9D7FB7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429000"/>
            <a:ext cx="35433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C08024-D88C-4D33-B424-539FCF23D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581400"/>
            <a:ext cx="320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A3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71A3D"/>
                </a:solidFill>
                <a:latin typeface="Aptos"/>
                <a:ea typeface="Aptos"/>
                <a:cs typeface="Aptos"/>
              </a:rPr>
              <a:t>C / Condensed service-signage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8EC374-3F00-4122-84FF-FDA940B28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924300"/>
            <a:ext cx="32004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00fe4ea8f14b1e">
            <a:extLst>
              <a:ext uri="{96DAC541-7B7A-43D3-8B79-37D633B846F1}">
                <asvg:svgBlip xmlns:asvg="http://schemas.microsoft.com/office/drawing/2016/SVG/main" r:embed="R71ef971e892f412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420100" y="3981450"/>
            <a:ext cx="3009900" cy="68580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C14194-178A-4F87-B537-F54817841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819650"/>
            <a:ext cx="3200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More truck-door and field-service in tone. Stronger personality, higher risk for the admin product shell.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BF3652-5BCB-48CB-A589-85A4D3DCA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0"/>
            <a:ext cx="112014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7DD3F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3E4798-5343-41F3-9812-686586971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53100"/>
            <a:ext cx="10744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Focused questions: shell quiet vs. truck-door personality? Is the San Diego / Est. 1982 tagline durable or contextual? Should the brand lean modern SaaS, local-service heritage, or a controlled hybrid?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711E8E-95F1-4C9C-8792-4FBB5B13F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3410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Active SVGs: packages/assets/brand. Inactive exploration: docs/design-system/assets/wordmark-options.</a:t>
            </a:r>
          </a:p>
        </p:txBody>
      </p:sp>
    </p:spTree>
    <p:extLst>
      <p:ext uri="{BB962C8B-B14F-4D97-AF65-F5344CB8AC3E}">
        <p14:creationId xmlns:p14="http://schemas.microsoft.com/office/powerpoint/2010/main" val="18664420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2026-05-18T14:12:03.7370000Z</dcterms:created>
  <dcterms:modified xsi:type="dcterms:W3CDTF">2026-05-18T14:12:03.7370000Z</dcterms:modified>
</coreProperties>
</file>